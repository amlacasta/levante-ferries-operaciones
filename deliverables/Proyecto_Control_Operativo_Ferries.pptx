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3DFD1"/>
                </a:solidFill>
                <a:latin typeface="Aptos"/>
              </a:rPr>
              <a:t>OPERATIONS ANALYTICS ·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BF3FF"/>
                </a:solidFill>
                <a:latin typeface="Aptos"/>
              </a:rPr>
              <a:t>Levante-Ferries:</a:t>
            </a:r>
            <a:br/>
            <a:r>
              <a:t>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7AAC3"/>
                </a:solidFill>
                <a:latin typeface="Aptos"/>
              </a:rPr>
              <a:t>Flota física · rotaciones · KPIs · diagnóstico · escenarios · simulador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234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BF3FF"/>
                </a:solidFill>
                <a:latin typeface="Aptos"/>
              </a:rPr>
              <a:t>12.000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7AAC3"/>
                </a:solidFill>
                <a:latin typeface="Aptos"/>
              </a:rPr>
              <a:t>servicios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857"/>
                </a:solidFill>
                <a:latin typeface="Aptos"/>
              </a:rPr>
              <a:t>CASO FICTICIO · DATOS SINTÉTICOS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01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12.000 servicios programados y 11.886 completados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Fiabilidad operacional: 88.22%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OTR≤15 de completados: 89.06%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Cancel Rate: 0.95%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Retraso propagado: 8.915 min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Margen total simulado: 243.7 M€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02 · ROUTE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Fiabilidad por ruta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Ruta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Servicios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Cancel %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OTR15 %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Fiabilidad %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Delay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BCN-PMI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1504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86.94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85.9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7.46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BCN-IBZ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1184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86.83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86.32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7.55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DEN-PMI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1399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88.9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87.56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6.72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VAL-IBZ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1562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88.73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87.71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7.19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MAH-BCN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1214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88.72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88.14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6.72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VAL-PMI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1442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88.46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88.21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DEN-FOR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1626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91.17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90.22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5.58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DEN-IBZ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2069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1.01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91.21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90.29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5.45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03 · DELAY PARETO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Principales causas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Causa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Servicios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Delay total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Share %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P95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1628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23472.7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36.63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39.46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1375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15627.4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24.39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31.13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PORT_CONGESTION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1512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11059.6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17.26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18.55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LATE_BOARDING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1004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5708.9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8.91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14.84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CREW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619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5250.6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8.19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23.9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SUPPLY_ISSUE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373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2957.5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4.62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21.28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04 · FLEET 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Rotaciones y activos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Buque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Servicios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Delay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Impactado %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Delay propagado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ECO-03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7.83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9.68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706.0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ROPAX-08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RO_PAX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415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7.82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9.4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576.9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ROPAX-07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RO_PAX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428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6.93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8.88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485.2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ECO-04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446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7.79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9.64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465.8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ROPAX-03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RO_PAX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442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6.26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8.37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460.6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ECO-09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461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6.94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8.89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450.5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ECO-02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467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6.77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8.99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449.4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ROPAX-09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RO_PAX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7.45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411.1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ECO-06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ECO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439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6.87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10.25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400.4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ROPAX-04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RO_PAX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418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6.97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8.85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388.2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05 · WHAT-IF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Escenarios de sensibilidad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Escenario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Min ahorrados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Ahorro %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Coste evitado €</a:t>
                      </a:r>
                    </a:p>
                  </a:txBody>
                  <a:tcPr>
                    <a:solidFill>
                      <a:srgbClr val="2A3E5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WEATHER y TECHNICAL -10%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3910.01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4.99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167329.84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WEATHER -10%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2347.27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97415.39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PROPAGACIÓN DE ROTACIONES -20%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1782.96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2.28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80029.94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TECHNICAL -10%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1562.74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1.99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69914.45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PORT_CONGESTION -10%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1105.96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1.41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F3FF"/>
                          </a:solidFill>
                          <a:latin typeface="Aptos"/>
                        </a:defRPr>
                      </a:pPr>
                      <a:r>
                        <a:t>51599.16</a:t>
                      </a:r>
                    </a:p>
                  </a:txBody>
                  <a:tcPr>
                    <a:solidFill>
                      <a:srgbClr val="1120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06 ·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Protocolos dinámicos para WINDY, ROUGH y STORM.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Mantenimiento preventivo en buques con mayor propagación.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Revisión de tiempos de escala y capacidad de recuperación.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Coordinación portuaria en rutas y horas críticas.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Control Tower semanal con fiabilidad, costes y hotspots.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3DFD1"/>
                </a:solidFill>
                <a:latin typeface="Aptos"/>
              </a:rPr>
              <a:t>07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F"/>
                </a:solidFill>
                <a:latin typeface="Aptos"/>
              </a:rPr>
              <a:t>Limitaciones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Datos, flota, demanda, meteorología y costes completamente sintéticos.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Los escenarios son sensibilidades, no estimaciones causales.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Siguiente evolución: datos reales, forecasting, pricing y optimización de rotaciones.</a:t>
            </a:r>
          </a:p>
          <a:p>
            <a:pPr>
              <a:spcAft>
                <a:spcPts val="1200"/>
              </a:spcAft>
              <a:defRPr sz="1800">
                <a:solidFill>
                  <a:srgbClr val="EBF3FF"/>
                </a:solidFill>
                <a:latin typeface="Aptos"/>
              </a:defRPr>
            </a:pPr>
            <a:r>
              <a:t>• Integración futura con Power BI, Streamlit y alertas operativas.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